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28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07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548640"/>
            <a:ext cx="2560320" cy="2560320"/>
          </a:xfrm>
          <a:prstGeom prst="ellipse">
            <a:avLst/>
          </a:prstGeom>
          <a:solidFill>
            <a:srgbClr val="1B4F72"/>
          </a:solidFill>
          <a:ln w="2540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0" y="64008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🛡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86D4"/>
                </a:solidFill>
              </a:rPr>
              <a:t>ISWZ3206 — Desarrollo de Software Seguro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Sprint Review 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7A589"/>
                </a:solidFill>
              </a:rPr>
              <a:t>Arquitectura &amp; Gestión de Riesgos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5A5A6"/>
                </a:solidFill>
              </a:rPr>
              <a:t>Integración Segura de Sistemas A y B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5A5A6"/>
                </a:solidFill>
              </a:rPr>
              <a:t>mediante IAM (Keycloak) y KMS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" y="4206240"/>
            <a:ext cx="9089136" cy="9372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297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5A5A6"/>
                </a:solidFill>
              </a:rPr>
              <a:t>Sprint 1  ·  Semanas 1 – 2  ·  Duración: 60 minutos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6360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E86D4"/>
                </a:solidFill>
              </a:rPr>
              <a:t>Objetivo: Comunicar riesgos técnicos y arquitectónicos de forma estructurada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E86D4"/>
                </a:solidFill>
              </a:rPr>
              <a:t>AGENDA DE LA SESIÓN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</a:rPr>
              <a:t>Sprint Review 1 — Arquitectura y Riesgos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75488" cy="5303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7101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2710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Objetivo del Proyecto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5A5A6"/>
                </a:solidFill>
              </a:rPr>
              <a:t>Alcance, sistemas involucrados y principios de seguridad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1325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6D4"/>
                </a:solidFill>
              </a:rPr>
              <a:t>8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56232"/>
            <a:ext cx="8412480" cy="530352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56232"/>
            <a:ext cx="475488" cy="5303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9280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892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Arquitectura Propuesta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1305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5A5A6"/>
                </a:solidFill>
              </a:rPr>
              <a:t>Diseño de infraestructura, Keycloak e integración KMS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19476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6D4"/>
                </a:solidFill>
              </a:rPr>
              <a:t>15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478024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78024"/>
            <a:ext cx="475488" cy="5303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1460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514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Riesgos Técnicos Identificados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7523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5A5A6"/>
                </a:solidFill>
              </a:rPr>
              <a:t>Análisis de amenazas y superficie de ataque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2569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6D4"/>
                </a:solidFill>
              </a:rPr>
              <a:t>15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099816"/>
            <a:ext cx="8412480" cy="530352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99816"/>
            <a:ext cx="475488" cy="5303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3639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136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Plan de Mitigaciones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3741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5A5A6"/>
                </a:solidFill>
              </a:rPr>
              <a:t>Controles de ciberseguridad y acciones preventivas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31912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6D4"/>
                </a:solidFill>
              </a:rPr>
              <a:t>12 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721608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21608"/>
            <a:ext cx="475488" cy="5303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5818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37581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Roadmap del Proyecto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39959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5A5A6"/>
                </a:solidFill>
              </a:rPr>
              <a:t>Sprints planificados e hitos clave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38130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6D4"/>
                </a:solidFill>
              </a:rPr>
              <a:t>5 min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530352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343400"/>
            <a:ext cx="475488" cy="5303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37997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3799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Q&amp;A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4400" y="4617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5A5A6"/>
                </a:solidFill>
              </a:rPr>
              <a:t>Preguntas y discusión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4434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6D4"/>
                </a:solidFill>
              </a:rPr>
              <a:t>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7A589"/>
                </a:solidFill>
              </a:rPr>
              <a:t>01 / OBJETIVO DEL 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¿Qué vamos a construir?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188720"/>
          </a:xfrm>
          <a:prstGeom prst="rect">
            <a:avLst/>
          </a:prstGeom>
          <a:solidFill>
            <a:srgbClr val="1B4F72"/>
          </a:solidFill>
          <a:ln w="1905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07008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Implementaremos una arquitectura de integración segura entre dos aplicaciones web independientes (Sistema A y Sistema B), centralizando la gestión de identidades con Keycloak y protegiendo la confidencialidad de la comunicación mediante un Key Management Service (KMS).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651760" cy="2331720"/>
          </a:xfrm>
          <a:prstGeom prst="rect">
            <a:avLst/>
          </a:prstGeom>
          <a:solidFill>
            <a:srgbClr val="1B4F72"/>
          </a:solidFill>
          <a:ln w="1905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606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Confidencialidad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5A5A6"/>
                </a:solidFill>
              </a:rPr>
              <a:t>Datos cifrados en tránsito y en reposo con KMS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514600"/>
            <a:ext cx="2651760" cy="2331720"/>
          </a:xfrm>
          <a:prstGeom prst="rect">
            <a:avLst/>
          </a:prstGeom>
          <a:solidFill>
            <a:srgbClr val="1B4F72"/>
          </a:solidFill>
          <a:ln w="1905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606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Integridad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54787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5A5A6"/>
                </a:solidFill>
              </a:rPr>
              <a:t>Tokens JWT firmados y validados por Keycloak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514600"/>
            <a:ext cx="2651760" cy="2331720"/>
          </a:xfrm>
          <a:prstGeom prst="rect">
            <a:avLst/>
          </a:prstGeom>
          <a:solidFill>
            <a:srgbClr val="1B4F72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606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3504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Disponibilidad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354787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5A5A6"/>
                </a:solidFill>
              </a:rPr>
              <a:t>Arquitectura con HA y mecanismos de failover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6D4"/>
                </a:solidFill>
              </a:rPr>
              <a:t>02 / ARQUITECTURA PROPUESTA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Diseño de Infraestructura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286000" cy="3474720"/>
          </a:xfrm>
          <a:prstGeom prst="rect">
            <a:avLst/>
          </a:prstGeom>
          <a:solidFill>
            <a:srgbClr val="0D1B2A"/>
          </a:solidFill>
          <a:ln w="2540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6D4"/>
                </a:solidFill>
              </a:rPr>
              <a:t>SISTEMA 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App Web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• Servidor propio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• Cliente Keycloak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• Genera ciphertext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• Consume API KMS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2240280"/>
            <a:ext cx="777240" cy="0"/>
          </a:xfrm>
          <a:prstGeom prst="line">
            <a:avLst/>
          </a:prstGeom>
          <a:noFill/>
          <a:ln w="25400">
            <a:solidFill>
              <a:srgbClr val="0E86D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578608" y="20116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6D4"/>
                </a:solidFill>
              </a:rPr>
              <a:t>OIDC/JWT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83280" y="1051560"/>
            <a:ext cx="2377440" cy="1691640"/>
          </a:xfrm>
          <a:prstGeom prst="rect">
            <a:avLst/>
          </a:prstGeom>
          <a:solidFill>
            <a:srgbClr val="1A5276"/>
          </a:solidFill>
          <a:ln w="2540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A589"/>
                </a:solidFill>
              </a:rPr>
              <a:t>KEYCLOAK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74720" y="184708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IAM · SSO · MFA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OIDC · RBAC · LDAP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926080"/>
            <a:ext cx="2377440" cy="1600200"/>
          </a:xfrm>
          <a:prstGeom prst="rect">
            <a:avLst/>
          </a:prstGeom>
          <a:solidFill>
            <a:srgbClr val="1A5276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</a:rPr>
              <a:t>AWS KMS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🗝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74720" y="367588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Cifrado · Descifrado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Gestión de Llaves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79008" y="2240280"/>
            <a:ext cx="777240" cy="0"/>
          </a:xfrm>
          <a:prstGeom prst="line">
            <a:avLst/>
          </a:prstGeom>
          <a:noFill/>
          <a:ln w="25400">
            <a:solidFill>
              <a:srgbClr val="0E86D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779008" y="20116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6D4"/>
                </a:solidFill>
              </a:rPr>
              <a:t>JWT Validation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0" y="1051560"/>
            <a:ext cx="2286000" cy="3474720"/>
          </a:xfrm>
          <a:prstGeom prst="rect">
            <a:avLst/>
          </a:prstGeom>
          <a:solidFill>
            <a:srgbClr val="0D1B2A"/>
          </a:solidFill>
          <a:ln w="2540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A589"/>
                </a:solidFill>
              </a:rPr>
              <a:t>SISTEMA 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675120" y="210312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App Web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• Servidor propio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• Cliente Keycloak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• Recibe ciphertext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• Descifra con KMS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78608" y="3200400"/>
            <a:ext cx="398678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</a:rPr>
              <a:t>⚡ Payload Cifrado (ciphertext)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5A5A6"/>
                </a:solidFill>
              </a:rPr>
              <a:t>Toda comunicación viajará sobre TLS + cifrado a nivel de aplicación (doble capa)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7A589"/>
                </a:solidFill>
              </a:rPr>
              <a:t>02 / ARQUITECTURA — IAM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Keycloak: Gestión de Identidades y Accesos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828800"/>
          </a:xfrm>
          <a:prstGeom prst="rect">
            <a:avLst/>
          </a:prstGeom>
          <a:solidFill>
            <a:srgbClr val="1B4F72"/>
          </a:solidFill>
          <a:ln w="1905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5720" cy="18288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🔓  Autenticación &amp; Autorización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Flujo OpenID Connect (OIDC) como estándar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Keycloak actuará como Proveedor de Identidad (IdP)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Políticas RBAC para control de endpoints entre sistemas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60520" cy="1828800"/>
          </a:xfrm>
          <a:prstGeom prst="rect">
            <a:avLst/>
          </a:prstGeom>
          <a:solidFill>
            <a:srgbClr val="1B4F72"/>
          </a:solidFill>
          <a:ln w="1905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45720" cy="18288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Single Sign-On (SSO)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50876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Ambos sistemas registrados como Clientes en el mismo Realm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Token JWT centralizado al iniciar sesión en Sistema 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Acceso a Sistema B sin re-ingresar credenciales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60520" cy="1828800"/>
          </a:xfrm>
          <a:prstGeom prst="rect">
            <a:avLst/>
          </a:prstGeom>
          <a:solidFill>
            <a:srgbClr val="1B4F72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63240"/>
            <a:ext cx="45720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54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 MFA — Doble Factor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52044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Política TOTP obligatoria (código OTP basado en tiempo)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Integración con Google Authenticator / Authy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Escaneo de QR en primer inicio de sesión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160520" cy="1828800"/>
          </a:xfrm>
          <a:prstGeom prst="rect">
            <a:avLst/>
          </a:prstGeom>
          <a:solidFill>
            <a:srgbClr val="1B4F72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63240"/>
            <a:ext cx="45720" cy="18288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54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🗂  Federación de Usuarios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352044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Conexión a LDAP / Active Directory corporativo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Inicio de sesión con credenciales existentes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5A5A6"/>
                </a:solidFill>
              </a:rPr>
              <a:t>Sin replicación de bases de datos de usuarios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7E22"/>
                </a:solidFill>
              </a:rPr>
              <a:t>02 / ARQUITECTURA — KMS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Flujo Criptográfico con AWS KMS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697480" cy="3108960"/>
          </a:xfrm>
          <a:prstGeom prst="rect">
            <a:avLst/>
          </a:prstGeom>
          <a:solidFill>
            <a:srgbClr val="0D1B2A"/>
          </a:solidFill>
          <a:ln w="2540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005840"/>
            <a:ext cx="685800" cy="685800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024128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Sistema A — Cifrado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788920"/>
            <a:ext cx="24780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5A6"/>
                </a:solidFill>
              </a:rPr>
              <a:t>Sistema A invoca la API del KMS enviando el payload (plaintext). El KMS devuelve el ciphertext firmado con la llave maestra.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90088" y="2606040"/>
            <a:ext cx="137160" cy="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4688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1078992"/>
            <a:ext cx="2697480" cy="3108960"/>
          </a:xfrm>
          <a:prstGeom prst="rect">
            <a:avLst/>
          </a:prstGeom>
          <a:solidFill>
            <a:srgbClr val="0D1B2A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1005840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024128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54680" y="17373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46120" y="2377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 Tránsito — Doble Capa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64408" y="2788920"/>
            <a:ext cx="24780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5A6"/>
                </a:solidFill>
              </a:rPr>
              <a:t>El ciphertext viaja de Servidor A a Servidor B sobre TLS. Incluso si TLS fuera comprometido, el payload permanece cifrado.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70448" y="2606040"/>
            <a:ext cx="137160" cy="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24688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078992"/>
            <a:ext cx="2697480" cy="3108960"/>
          </a:xfrm>
          <a:prstGeom prst="rect">
            <a:avLst/>
          </a:prstGeom>
          <a:solidFill>
            <a:srgbClr val="0D1B2A"/>
          </a:solidFill>
          <a:ln w="2540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1005840"/>
            <a:ext cx="685800" cy="6858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024128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5040" y="17373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🔓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126480" y="2377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Sistema B — Descifrado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44768" y="2788920"/>
            <a:ext cx="24780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5A6"/>
                </a:solidFill>
              </a:rPr>
              <a:t>Sistema B presenta sus credenciales de rol al KMS. El KMS valida los permisos y retorna el plaintext para procesar.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343400"/>
            <a:ext cx="8595360" cy="566928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0740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D6608"/>
                </a:solidFill>
              </a:rPr>
              <a:t>⚠  Los desarrolladores NO gestionarán llaves directamente. Toda la criptografía será delegada al KMS especializado (principio de delegación responsable).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392B"/>
                </a:solidFill>
              </a:rPr>
              <a:t>03 / RIESGOS TÉCNICOS IDENTIFICADOS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Análisis de Amenazas y Superficie de Ataque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51960" cy="1207008"/>
          </a:xfrm>
          <a:prstGeom prst="rect">
            <a:avLst/>
          </a:prstGeom>
          <a:solidFill>
            <a:srgbClr val="1B4F72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698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R1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115568"/>
            <a:ext cx="6858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1556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SPOF en KMS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60934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Si el servicio KMS falla, el Sistema B no podrá descifrar ninguna petición del Sistema A, deteniendo toda operación transaccional.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251960" cy="1207008"/>
          </a:xfrm>
          <a:prstGeom prst="rect">
            <a:avLst/>
          </a:prstGeom>
          <a:solidFill>
            <a:srgbClr val="1B4F72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0698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R2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1115568"/>
            <a:ext cx="6858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11556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0600" y="13533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Brecha en Keycloak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60934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Una compromisión del servidor IAM podría exponer todas las identidades federadas (PII) y anular la capa de control de acceso.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377440"/>
            <a:ext cx="4251960" cy="1207008"/>
          </a:xfrm>
          <a:prstGeom prst="rect">
            <a:avLst/>
          </a:prstGeom>
          <a:solidFill>
            <a:srgbClr val="1B4F72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441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</a:rPr>
              <a:t>R3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2487168"/>
            <a:ext cx="685800" cy="228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48716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27249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Latencia por Criptografía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298094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Cada llamada al KMS agrega latencia de red. Se deberá medir el impacto en el tiempo de respuesta bajo carga concurrente.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377440"/>
            <a:ext cx="4251960" cy="1207008"/>
          </a:xfrm>
          <a:prstGeom prst="rect">
            <a:avLst/>
          </a:prstGeom>
          <a:solidFill>
            <a:srgbClr val="1B4F72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441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</a:rPr>
              <a:t>R4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03520" y="2487168"/>
            <a:ext cx="685800" cy="228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48716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27249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Interceptación de Token JWT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298094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Un JWT robado sin expiración adecuada podría usarse para suplantación de identidad entre sistemas.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749040"/>
            <a:ext cx="4251960" cy="1207008"/>
          </a:xfrm>
          <a:prstGeom prst="rect">
            <a:avLst/>
          </a:prstGeom>
          <a:solidFill>
            <a:srgbClr val="1B4F72"/>
          </a:solidFill>
          <a:ln w="1905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38130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A589"/>
                </a:solidFill>
              </a:rPr>
              <a:t>R5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" y="3858768"/>
            <a:ext cx="685800" cy="2286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85876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BAJO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" y="40965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Configuración incorrecta RBAC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" y="435254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Una mala definición de roles en Keycloak podría otorgar acceso indebido a endpoints protegidos del Sistema B.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749040"/>
            <a:ext cx="4251960" cy="1207008"/>
          </a:xfrm>
          <a:prstGeom prst="rect">
            <a:avLst/>
          </a:prstGeom>
          <a:solidFill>
            <a:srgbClr val="1B4F72"/>
          </a:solidFill>
          <a:ln w="1905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00600" y="38130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A589"/>
                </a:solidFill>
              </a:rPr>
              <a:t>R6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303520" y="3858768"/>
            <a:ext cx="685800" cy="2286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85876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BAJO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0600" y="40965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Sesgo Algorítmico en Detección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435254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Heurísticas de inicio de sesión sospechoso podrían penalizar usuarios de zonas rurales o con baja conectividad.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7A589"/>
                </a:solidFill>
              </a:rPr>
              <a:t>04 / PLAN DE MITIGACIONES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Controles de Ciberseguridad Planificados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5720" cy="5943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</a:rPr>
              <a:t>R1 — SPOF KMS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280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Alta Disponibilidad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71800" y="106984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Configurar Multi-AZ en AWS KMS y mecanismo de circuit breaker. Plan de degradación elegante con cola de mensajes.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673352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673352"/>
            <a:ext cx="457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R2 — Brecha IAM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1947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Hardening de Keycloak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71800" y="17373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Keycloak en red privada (sin exposición directa a internet). Auditoría de acceso, backups cifrados y parches automáticos.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340864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340864"/>
            <a:ext cx="4572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86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2386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</a:rPr>
              <a:t>R3 — Latencia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Caching de Llaves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71800" y="240487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Usar Data Keys de un solo uso con caché local. Medir baseline de latencia con pruebas de carga desde Sprint 1.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008376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008376"/>
            <a:ext cx="45720" cy="59436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8680" y="3054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6D4"/>
                </a:solidFill>
              </a:rPr>
              <a:t>R4 — JWT Robado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32826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Política de Tokens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71800" y="307238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Tiempo de expiración corto (15 min), refresh tokens rotativos y lista de revocación activa (blacklist) en Keycloak.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675888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675888"/>
            <a:ext cx="45720" cy="5943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68680" y="3721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</a:rPr>
              <a:t>R5 — RBAC Incorrecto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3950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Revisión de Roles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971800" y="373989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Documentar matriz de accesos antes de implementar. Pruebas de penetración interna para validar los permisos definidos.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4343400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4343400"/>
            <a:ext cx="45720" cy="59436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68680" y="4389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A5A6"/>
                </a:solidFill>
              </a:rPr>
              <a:t>R6 — Sesgo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Fairness Audit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971800" y="440740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Revisar heurísticas de detección de fraude. Ofrecer YubiKey físico y canal de soporte para usuarios sin smartphone.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6D4"/>
                </a:solidFill>
              </a:rPr>
              <a:t>05 / ROADMAP DEL 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Planificación de Sprints — 8 Semanas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9144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005840"/>
            <a:ext cx="256032" cy="256032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011680" cy="3429000"/>
          </a:xfrm>
          <a:prstGeom prst="rect">
            <a:avLst/>
          </a:prstGeom>
          <a:solidFill>
            <a:srgbClr val="1B4F72"/>
          </a:solidFill>
          <a:ln w="3175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2011680" cy="34747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▶  EN CURSO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6D4"/>
                </a:solidFill>
              </a:rPr>
              <a:t>S1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Arquitectura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&amp; Setup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86D4"/>
                </a:solidFill>
              </a:rPr>
              <a:t>Sem 1–2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2990088"/>
            <a:ext cx="1792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Infraestructura aislada Sis. A y B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Despliegue servidor Keycloak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Configuración inicial de 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9000" y="1005840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371600"/>
            <a:ext cx="201168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A589"/>
                </a:solidFill>
              </a:rPr>
              <a:t>S2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0" y="179222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Gestión 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Identidades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2359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7A589"/>
                </a:solidFill>
              </a:rPr>
              <a:t>Sem 3–4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61488" y="2651760"/>
            <a:ext cx="1792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HU01: SSO entre sistemas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Autenticación OIDC y RBAC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Federación LDAP/AD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005840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371600"/>
            <a:ext cx="201168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</a:rPr>
              <a:t>S3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179222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Criptografía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&amp; MFA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2359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7E22"/>
                </a:solidFill>
              </a:rPr>
              <a:t>Sem 5–6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56048" y="2651760"/>
            <a:ext cx="1792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HU02: TOTP 2FA móvil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HU03: Integración AWS KMS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Cifrado de payload en tránsito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818120" y="1005840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1371600"/>
            <a:ext cx="201168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32320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</a:rPr>
              <a:t>S4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32320" y="179222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Auditoría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&amp; Despliegue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0" y="2359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59B6"/>
                </a:solidFill>
              </a:rPr>
              <a:t>Sem 7–8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0608" y="2651760"/>
            <a:ext cx="1792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Análisis SAST con SonarQube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Remediación OWASP Top 10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5A5A6"/>
                </a:solidFill>
              </a:rPr>
              <a:t>Fairness Audit y despliegue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6D4"/>
                </a:solidFill>
              </a:rPr>
              <a:t>05 / ROADMAP — HISTORIAS DE USUARIO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Backlog Priorizado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54864" cy="8686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607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A589"/>
                </a:solidFill>
              </a:rPr>
              <a:t>🔄 HU01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57200" cy="20116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361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0120" y="1508760"/>
            <a:ext cx="347472" cy="2743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27048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 pts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08760" y="1078992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Como </a:t>
            </a:r>
            <a:r>
              <a:rPr lang="en-US" sz="1150" b="1" dirty="0">
                <a:solidFill>
                  <a:srgbClr val="0D1B2A"/>
                </a:solidFill>
              </a:rPr>
              <a:t>usuario del sistema</a:t>
            </a:r>
            <a:r>
              <a:rPr lang="en-US" sz="1150" dirty="0">
                <a:solidFill>
                  <a:srgbClr val="000000"/>
                </a:solidFill>
              </a:rPr>
              <a:t>, quiero </a:t>
            </a:r>
            <a:r>
              <a:rPr lang="en-US" sz="1150" b="1" dirty="0">
                <a:solidFill>
                  <a:srgbClr val="17A589"/>
                </a:solidFill>
              </a:rPr>
              <a:t>iniciar sesión una sola vez (SSO)</a:t>
            </a:r>
            <a:r>
              <a:rPr lang="en-US" sz="1150" dirty="0">
                <a:solidFill>
                  <a:srgbClr val="000000"/>
                </a:solidFill>
              </a:rPr>
              <a:t>, para que </a:t>
            </a:r>
            <a:r>
              <a:rPr lang="en-US" sz="1150" i="1" dirty="0">
                <a:solidFill>
                  <a:srgbClr val="555555"/>
                </a:solidFill>
              </a:rPr>
              <a:t>pueda navegar entre Sistema A y B sin reingresar credenciales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1993392"/>
            <a:ext cx="8686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993392"/>
            <a:ext cx="54864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482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</a:rPr>
              <a:t>📱 HU02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523744"/>
            <a:ext cx="45720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237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60120" y="2496312"/>
            <a:ext cx="347472" cy="2743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514600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 pts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08760" y="2066544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Como </a:t>
            </a:r>
            <a:r>
              <a:rPr lang="en-US" sz="1150" b="1" dirty="0">
                <a:solidFill>
                  <a:srgbClr val="0D1B2A"/>
                </a:solidFill>
              </a:rPr>
              <a:t>administrador de seguridad</a:t>
            </a:r>
            <a:r>
              <a:rPr lang="en-US" sz="1150" dirty="0">
                <a:solidFill>
                  <a:srgbClr val="000000"/>
                </a:solidFill>
              </a:rPr>
              <a:t>, quiero </a:t>
            </a:r>
            <a:r>
              <a:rPr lang="en-US" sz="1150" b="1" dirty="0">
                <a:solidFill>
                  <a:srgbClr val="E67E22"/>
                </a:solidFill>
              </a:rPr>
              <a:t>exigir código TOTP desde app móvil</a:t>
            </a:r>
            <a:r>
              <a:rPr lang="en-US" sz="1150" dirty="0">
                <a:solidFill>
                  <a:srgbClr val="000000"/>
                </a:solidFill>
              </a:rPr>
              <a:t>, para que </a:t>
            </a:r>
            <a:r>
              <a:rPr lang="en-US" sz="1150" i="1" dirty="0">
                <a:solidFill>
                  <a:srgbClr val="555555"/>
                </a:solidFill>
              </a:rPr>
              <a:t>los accesos sean verificados con un segundo factor de autenticación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8600" y="2980944"/>
            <a:ext cx="8686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80944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358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🔐 HU03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511296"/>
            <a:ext cx="45720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112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60120" y="3483864"/>
            <a:ext cx="347472" cy="2743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502152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13 pts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508760" y="3054096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Como </a:t>
            </a:r>
            <a:r>
              <a:rPr lang="en-US" sz="1150" b="1" dirty="0">
                <a:solidFill>
                  <a:srgbClr val="0D1B2A"/>
                </a:solidFill>
              </a:rPr>
              <a:t>Sistema A</a:t>
            </a:r>
            <a:r>
              <a:rPr lang="en-US" sz="1150" dirty="0">
                <a:solidFill>
                  <a:srgbClr val="000000"/>
                </a:solidFill>
              </a:rPr>
              <a:t>, quiero </a:t>
            </a:r>
            <a:r>
              <a:rPr lang="en-US" sz="1150" b="1" dirty="0">
                <a:solidFill>
                  <a:srgbClr val="C0392B"/>
                </a:solidFill>
              </a:rPr>
              <a:t>cifrar el payload antes de enviarlo al Sistema B usando KMS</a:t>
            </a:r>
            <a:r>
              <a:rPr lang="en-US" sz="1150" dirty="0">
                <a:solidFill>
                  <a:srgbClr val="000000"/>
                </a:solidFill>
              </a:rPr>
              <a:t>, para que </a:t>
            </a:r>
            <a:r>
              <a:rPr lang="en-US" sz="1150" i="1" dirty="0">
                <a:solidFill>
                  <a:srgbClr val="555555"/>
                </a:solidFill>
              </a:rPr>
              <a:t>la trama no pueda ser interceptada ni leída en tránsito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8600" y="3968496"/>
            <a:ext cx="8686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968496"/>
            <a:ext cx="54864" cy="8686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</a:rPr>
              <a:t>🔍 HU04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4498848"/>
            <a:ext cx="457200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49884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60120" y="4471416"/>
            <a:ext cx="347472" cy="2743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489704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 pts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508760" y="404164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Como </a:t>
            </a:r>
            <a:r>
              <a:rPr lang="en-US" sz="1150" b="1" dirty="0">
                <a:solidFill>
                  <a:srgbClr val="0D1B2A"/>
                </a:solidFill>
              </a:rPr>
              <a:t>equipo de seguridad</a:t>
            </a:r>
            <a:r>
              <a:rPr lang="en-US" sz="1150" dirty="0">
                <a:solidFill>
                  <a:srgbClr val="000000"/>
                </a:solidFill>
              </a:rPr>
              <a:t>, quiero </a:t>
            </a:r>
            <a:r>
              <a:rPr lang="en-US" sz="1150" b="1" dirty="0">
                <a:solidFill>
                  <a:srgbClr val="9B59B6"/>
                </a:solidFill>
              </a:rPr>
              <a:t>ejecutar análisis SAST con SonarQube en el pipeline CI/CD</a:t>
            </a:r>
            <a:r>
              <a:rPr lang="en-US" sz="1150" dirty="0">
                <a:solidFill>
                  <a:srgbClr val="000000"/>
                </a:solidFill>
              </a:rPr>
              <a:t>, para que </a:t>
            </a:r>
            <a:r>
              <a:rPr lang="en-US" sz="1150" i="1" dirty="0">
                <a:solidFill>
                  <a:srgbClr val="555555"/>
                </a:solidFill>
              </a:rPr>
              <a:t>detectar y remediar vulnerabilidades antes del despliegue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59B6"/>
                </a:solidFill>
              </a:rPr>
              <a:t>04 / IMPACTO Y ÉTICA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Evaluación de Impacto Multidimensional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3840480"/>
          </a:xfrm>
          <a:prstGeom prst="rect">
            <a:avLst/>
          </a:prstGeom>
          <a:solidFill>
            <a:srgbClr val="1B4F72"/>
          </a:solidFill>
          <a:ln w="1905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6D4"/>
                </a:solidFill>
              </a:rPr>
              <a:t>Tecnológico &amp; Operativo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⚠ Riesgos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267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SPOF: Si KMS falla → Sistema B detiene operaciones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Incremento de latencia por llamadas externas al KMS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</a:rPr>
              <a:t>✅ Mitigaciones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319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Alta Disponibilidad Multi-AZ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Circuit breaker y cola de mensajes de respaldo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1005840"/>
            <a:ext cx="2743200" cy="3840480"/>
          </a:xfrm>
          <a:prstGeom prst="rect">
            <a:avLst/>
          </a:prstGeom>
          <a:solidFill>
            <a:srgbClr val="1B4F72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5468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46120" y="1572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</a:rPr>
              <a:t>Social &amp; Ético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2011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⚠ Riesgos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267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MFA excluye usuarios sin smartphone o con brecha digital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2651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Sesgo algorítmico contra zonas rurales o de baja conectividad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</a:rPr>
              <a:t>✅ Mitigaciones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3319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Tokens físicos YubiKey como alternativa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Soporte humano directo para falsos positivos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1005840"/>
            <a:ext cx="2743200" cy="3840480"/>
          </a:xfrm>
          <a:prstGeom prst="rect">
            <a:avLst/>
          </a:prstGeom>
          <a:solidFill>
            <a:srgbClr val="1B4F72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8076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🔏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72200" y="1572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9B6"/>
                </a:solidFill>
              </a:rPr>
              <a:t>Privacidad &amp; Datos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2011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⚠ Riesgos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267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Keycloak centraliza gran volumen de PII corporativa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2651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Una brecha en el IAM comprometería todas las identidades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</a:rPr>
              <a:t>✅ Mitigaciones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3319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Keycloak en red privada sin exposición pública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• Cifrado de BBDD interna + auditoría de accesos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0CFD82EC-8EB3-4C3F-A0E6-18F183661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140" y="64008"/>
            <a:ext cx="2516294" cy="5143500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B3FBCFC4-BC35-4C15-9FE8-33E79059B172}"/>
              </a:ext>
            </a:extLst>
          </p:cNvPr>
          <p:cNvSpPr txBox="1"/>
          <p:nvPr/>
        </p:nvSpPr>
        <p:spPr>
          <a:xfrm>
            <a:off x="4572000" y="306766"/>
            <a:ext cx="389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Diagrama de Flujo: SSO y MFA</a:t>
            </a:r>
            <a:endParaRPr lang="es-EC" dirty="0">
              <a:solidFill>
                <a:schemeClr val="bg1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F55DF51-F495-4136-B89B-0298CBD06D7B}"/>
              </a:ext>
            </a:extLst>
          </p:cNvPr>
          <p:cNvSpPr txBox="1"/>
          <p:nvPr/>
        </p:nvSpPr>
        <p:spPr>
          <a:xfrm>
            <a:off x="4572000" y="768061"/>
            <a:ext cx="3374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Explica visualmente la lógica del Single </a:t>
            </a:r>
            <a:r>
              <a:rPr lang="es-ES" sz="1200" dirty="0" err="1">
                <a:solidFill>
                  <a:schemeClr val="bg1"/>
                </a:solidFill>
              </a:rPr>
              <a:t>Sign-On</a:t>
            </a:r>
            <a:r>
              <a:rPr lang="es-ES" sz="1200" dirty="0">
                <a:solidFill>
                  <a:schemeClr val="bg1"/>
                </a:solidFill>
              </a:rPr>
              <a:t> y el Segundo Factor de Autenticación. Muestra que el usuario solo se autentica una vez para ambos sistemas.</a:t>
            </a:r>
            <a:endParaRPr lang="es-EC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365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7A589"/>
                </a:solidFill>
              </a:rPr>
              <a:t>CONCLUSIONES DEL SPRINT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Compromisos Arquitectónicos del Equipo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2834640"/>
          </a:xfrm>
          <a:prstGeom prst="rect">
            <a:avLst/>
          </a:prstGeom>
          <a:solidFill>
            <a:srgbClr val="1B4F72"/>
          </a:solidFill>
          <a:ln w="2540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984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6D4"/>
                </a:solidFill>
              </a:rPr>
              <a:t>Security by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233172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5A6"/>
                </a:solidFill>
              </a:rPr>
              <a:t>La seguridad se integrará desde el primer sprint, no como un parche final. El diseño arquitectónico incluirá controles de seguridad nativos en cada componente.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234440"/>
            <a:ext cx="2743200" cy="2834640"/>
          </a:xfrm>
          <a:prstGeom prst="rect">
            <a:avLst/>
          </a:prstGeom>
          <a:solidFill>
            <a:srgbClr val="1B4F72"/>
          </a:solidFill>
          <a:ln w="25400">
            <a:solidFill>
              <a:srgbClr val="17A5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2984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🔑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938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A589"/>
                </a:solidFill>
              </a:rPr>
              <a:t>Delegación Criptográfica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64408" y="233172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5A6"/>
                </a:solidFill>
              </a:rPr>
              <a:t>No se implementarán mecanismos de cifrado propios. Toda la gestión de llaves será delegada al KMS especializado para garantizar estándares robustos.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743200" cy="2834640"/>
          </a:xfrm>
          <a:prstGeom prst="rect">
            <a:avLst/>
          </a:prstGeom>
          <a:solidFill>
            <a:srgbClr val="1B4F72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2984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⚖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1938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</a:rPr>
              <a:t>Responsabilidad Ética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44768" y="233172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5A6"/>
                </a:solidFill>
              </a:rPr>
              <a:t>Las políticas de seguridad serán diseñadas con enfoque de equidad (Fairness Audit). La protección de datos nunca podrá convertirse en exclusión digital.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Próximo paso: Sprint 2 — Implementación de SSO, OIDC y Federación de Usuarios (Semanas 3-4)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1423</Words>
  <Application>Microsoft Office PowerPoint</Application>
  <PresentationFormat>Presentación en pantalla (16:9)</PresentationFormat>
  <Paragraphs>263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Review 1 - Arquitectura y Riesgos</dc:title>
  <dc:subject>PptxGenJS Presentation</dc:subject>
  <dc:creator>PptxGenJS</dc:creator>
  <cp:lastModifiedBy>Laboratorio</cp:lastModifiedBy>
  <cp:revision>2</cp:revision>
  <dcterms:created xsi:type="dcterms:W3CDTF">2026-05-23T01:29:40Z</dcterms:created>
  <dcterms:modified xsi:type="dcterms:W3CDTF">2026-05-23T01:42:00Z</dcterms:modified>
</cp:coreProperties>
</file>